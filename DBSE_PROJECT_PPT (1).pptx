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09" autoAdjust="0"/>
    <p:restoredTop sz="95033" autoAdjust="0"/>
  </p:normalViewPr>
  <p:slideViewPr>
    <p:cSldViewPr snapToGrid="0" snapToObjects="1">
      <p:cViewPr varScale="1">
        <p:scale>
          <a:sx n="70" d="100"/>
          <a:sy n="70" d="100"/>
        </p:scale>
        <p:origin x="256" y="5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8/10/relationships/authors" Targe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9/1/2026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9/1/2026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01-09-2026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01-09-2026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01-09-2026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01-09-2026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01-09-2026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01-09-2026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01-09-2026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01-09-2026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01-09-2026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01-09-2026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01-09-2026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01-09-2026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01-09-2026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01-09-2026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01-09-2026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01-09-2026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01-09-2026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01-09-2026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606175"/>
            <a:ext cx="10392383" cy="471063"/>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US" sz="2400" b="1" dirty="0">
                <a:solidFill>
                  <a:srgbClr val="011893"/>
                </a:solidFill>
                <a:latin typeface="+mn-lt"/>
                <a:cs typeface="Arial" panose="020B0604020202020204" pitchFamily="34" charset="0"/>
              </a:rPr>
              <a:t>Online Food Delivery Platform: Multi-Restaurant Ordering &amp; Unified Checkout</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Y Prasanthi</a:t>
            </a: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950982844"/>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M.V.L. Samhita</a:t>
                      </a:r>
                    </a:p>
                  </a:txBody>
                  <a:tcPr/>
                </a:tc>
                <a:tc>
                  <a:txBody>
                    <a:bodyPr/>
                    <a:lstStyle/>
                    <a:p>
                      <a:r>
                        <a:rPr lang="en-US" dirty="0"/>
                        <a:t>2520030509</a:t>
                      </a:r>
                    </a:p>
                  </a:txBody>
                  <a:tcPr/>
                </a:tc>
                <a:extLst>
                  <a:ext uri="{0D108BD9-81ED-4DB2-BD59-A6C34878D82A}">
                    <a16:rowId xmlns:a16="http://schemas.microsoft.com/office/drawing/2014/main" val="253518174"/>
                  </a:ext>
                </a:extLst>
              </a:tr>
              <a:tr h="370840">
                <a:tc>
                  <a:txBody>
                    <a:bodyPr/>
                    <a:lstStyle/>
                    <a:p>
                      <a:r>
                        <a:rPr lang="en-US" dirty="0"/>
                        <a:t>Sahasra Gandla</a:t>
                      </a:r>
                    </a:p>
                  </a:txBody>
                  <a:tcPr/>
                </a:tc>
                <a:tc>
                  <a:txBody>
                    <a:bodyPr/>
                    <a:lstStyle/>
                    <a:p>
                      <a:r>
                        <a:rPr lang="en-US" dirty="0"/>
                        <a:t>2520030108</a:t>
                      </a:r>
                    </a:p>
                  </a:txBody>
                  <a:tcPr/>
                </a:tc>
                <a:extLst>
                  <a:ext uri="{0D108BD9-81ED-4DB2-BD59-A6C34878D82A}">
                    <a16:rowId xmlns:a16="http://schemas.microsoft.com/office/drawing/2014/main" val="2413438055"/>
                  </a:ext>
                </a:extLst>
              </a:tr>
              <a:tr h="370840">
                <a:tc>
                  <a:txBody>
                    <a:bodyPr/>
                    <a:lstStyle/>
                    <a:p>
                      <a:r>
                        <a:rPr lang="en-US" dirty="0"/>
                        <a:t>Tejaswini Tadukula</a:t>
                      </a:r>
                    </a:p>
                  </a:txBody>
                  <a:tcPr/>
                </a:tc>
                <a:tc>
                  <a:txBody>
                    <a:bodyPr/>
                    <a:lstStyle/>
                    <a:p>
                      <a:r>
                        <a:rPr lang="en-US" dirty="0"/>
                        <a:t>2520030510</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 13</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960793399"/>
              </p:ext>
            </p:extLst>
          </p:nvPr>
        </p:nvGraphicFramePr>
        <p:xfrm>
          <a:off x="838199" y="1416193"/>
          <a:ext cx="10515600" cy="2307967"/>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t>M.V.L. Samhita</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dirty="0"/>
                        <a:t>Backend Development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t>Sahasra Gandla</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t>Database &amp; System Design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t>Tejaswini Tadukula</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dirty="0"/>
                        <a:t>Frontend &amp; Testing</a:t>
                      </a:r>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normAutofit/>
          </a:bodyPr>
          <a:lstStyle/>
          <a:p>
            <a:r>
              <a:rPr lang="en-IN" sz="1800" dirty="0"/>
              <a:t>Online food delivery platforms have become an essential part of modern food ordering, but most existing systems require customers to place separate orders when purchasing items from different restaurants. This results in repeated checkout processes, separate delivery charges, multiple order statuses, and a fragmented tracking experience. The proposed Online Food Delivery Platform addresses this limitation by enabling customers to browse multiple restaurants, select items from different restaurants, add them to a single cart, and complete one unified checkout and payment process. The system is designed to provide a convenient and transparent ordering experience while reducing the complexity associated with managing multiple restaurant orders.</a:t>
            </a:r>
          </a:p>
          <a:p>
            <a:r>
              <a:rPr lang="en-IN" sz="1800" dirty="0"/>
              <a:t>Behind the unified customer experience, the platform manages the order through a master-order mechanism that automatically divides the order into independent restaurant-specific orders. Each restaurant can access and process only its respective portion of the order, while delivery partners are assigned to </a:t>
            </a:r>
            <a:r>
              <a:rPr lang="en-IN" sz="1800" dirty="0" err="1"/>
              <a:t>fulfill</a:t>
            </a:r>
            <a:r>
              <a:rPr lang="en-IN" sz="1800" dirty="0"/>
              <a:t> the deliveries and update their status. The platform provides role-based dashboards for customers, restaurants, delivery partners, and administrators, along with real-time order and delivery status updates. The system is developed using React.js for the frontend, Node.js and Express.js for the backend, MySQL for relational data management, and Socket.io for real-time communication, with Google Maps API and x402 </a:t>
            </a:r>
            <a:r>
              <a:rPr lang="en-IN" sz="1800" dirty="0" err="1"/>
              <a:t>Aragen</a:t>
            </a:r>
            <a:r>
              <a:rPr lang="en-IN" sz="1800" dirty="0"/>
              <a:t> supporting delivery tracking and online payments respectively.</a:t>
            </a: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a:bodyPr>
          <a:lstStyle/>
          <a:p>
            <a:r>
              <a:rPr lang="en-IN" sz="1800" dirty="0"/>
              <a:t>Online food delivery has become a widely used service, providing customers with convenient access to food from restaurants through digital platforms. However, when customers want to order items from multiple restaurants, most existing platforms require them to place separate orders for each restaurant. This leads to multiple checkouts, separate delivery charges, different order IDs, and difficulty in monitoring the status of all orders simultaneously. These limitations create an opportunity for a more integrated food ordering experience that can combine orders from multiple restaurants while maintaining efficient restaurant-wise processing. </a:t>
            </a:r>
            <a:r>
              <a:rPr sz="1800" b="0" dirty="0"/>
              <a:t>The platform serves four types of users through role-based dashboards:</a:t>
            </a:r>
          </a:p>
          <a:p>
            <a:pPr lvl="1"/>
            <a:r>
              <a:rPr sz="1800" b="0" dirty="0"/>
              <a:t>Customers — browse restaurants, build a multi-restaurant cart, and check out once</a:t>
            </a:r>
          </a:p>
          <a:p>
            <a:pPr lvl="1"/>
            <a:r>
              <a:rPr sz="1800" b="0" dirty="0"/>
              <a:t>Restaurants — manage their menu and process only their own portion of an order</a:t>
            </a:r>
          </a:p>
          <a:p>
            <a:pPr lvl="1"/>
            <a:r>
              <a:rPr sz="1800" b="0" dirty="0"/>
              <a:t>Delivery Partners — accept and fulfill deliveries with live location tracking</a:t>
            </a:r>
          </a:p>
          <a:p>
            <a:pPr lvl="1"/>
            <a:r>
              <a:rPr sz="1800" b="0" dirty="0"/>
              <a:t>Admin — oversees users, restaurants, delivery partners, commissions, and offers</a:t>
            </a: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a:xfrm>
            <a:off x="929507" y="1406525"/>
            <a:ext cx="10515600" cy="4351338"/>
          </a:xfrm>
        </p:spPr>
        <p:txBody>
          <a:bodyPr>
            <a:normAutofit/>
          </a:bodyPr>
          <a:lstStyle/>
          <a:p>
            <a:pPr marL="0" indent="0">
              <a:buNone/>
            </a:pPr>
            <a:r>
              <a:rPr lang="en-IN" sz="1800" dirty="0"/>
              <a:t>Most existing online food delivery platforms follow a </a:t>
            </a:r>
            <a:r>
              <a:rPr lang="en-IN" sz="1800" b="1" dirty="0"/>
              <a:t>single-restaurant ordering model</a:t>
            </a:r>
            <a:r>
              <a:rPr lang="en-IN" sz="1800" dirty="0"/>
              <a:t>, where a customer's cart is associated with one restaurant at a time. To order from another restaurant, the customer must create a separate order and complete another checkout process.</a:t>
            </a:r>
          </a:p>
          <a:p>
            <a:r>
              <a:rPr lang="en-IN" sz="1800" b="1" dirty="0"/>
              <a:t>Drawbacks / Limitations:</a:t>
            </a:r>
            <a:r>
              <a:rPr lang="en-IN" sz="1800" dirty="0"/>
              <a:t> </a:t>
            </a:r>
          </a:p>
          <a:p>
            <a:pPr lvl="0"/>
            <a:r>
              <a:rPr lang="en-IN" sz="1800" b="1" dirty="0"/>
              <a:t>Variable Delivery Times</a:t>
            </a:r>
            <a:r>
              <a:rPr lang="en-IN" sz="1800" dirty="0"/>
              <a:t> — Estimated delivery times may change due to restaurant preparation, traffic, and delivery conditions. </a:t>
            </a:r>
          </a:p>
          <a:p>
            <a:pPr lvl="0"/>
            <a:r>
              <a:rPr lang="en-IN" sz="1800" b="1" dirty="0"/>
              <a:t>Limited Ordering Flexibility</a:t>
            </a:r>
            <a:r>
              <a:rPr lang="en-IN" sz="1800" dirty="0"/>
              <a:t> — The ordering process is primarily designed around individual restaurant orders.</a:t>
            </a:r>
          </a:p>
          <a:p>
            <a:pPr lvl="0"/>
            <a:r>
              <a:rPr lang="en-IN" sz="1800" b="1" dirty="0"/>
              <a:t>Multiple Checkouts</a:t>
            </a:r>
            <a:r>
              <a:rPr lang="en-IN" sz="1800" dirty="0"/>
              <a:t> — Customers need to complete separate checkout processes when ordering from different restaurants.</a:t>
            </a:r>
          </a:p>
          <a:p>
            <a:pPr lvl="0"/>
            <a:r>
              <a:rPr lang="en-IN" sz="1800" b="1" dirty="0"/>
              <a:t>Separate Order Tracking</a:t>
            </a:r>
            <a:r>
              <a:rPr lang="en-IN" sz="1800" dirty="0"/>
              <a:t> — Orders from different restaurants have separate statuses, making them difficult to monitor together.</a:t>
            </a:r>
          </a:p>
          <a:p>
            <a:pPr lvl="0"/>
            <a:r>
              <a:rPr lang="en-IN" sz="1800" b="1" dirty="0"/>
              <a:t>Fragmented Multi-Restaurant Ordering</a:t>
            </a:r>
            <a:r>
              <a:rPr lang="en-IN" sz="1800" dirty="0"/>
              <a:t> — Customers cannot conveniently combine food items from different restaurants into one order.</a:t>
            </a:r>
          </a:p>
          <a:p>
            <a:pPr lvl="0"/>
            <a:endParaRPr lang="en-IN" sz="1800"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a:xfrm>
            <a:off x="2204884" y="1847850"/>
            <a:ext cx="7617542" cy="4351338"/>
          </a:xfrm>
        </p:spPr>
        <p:txBody>
          <a:bodyPr>
            <a:normAutofit fontScale="92500" lnSpcReduction="10000"/>
          </a:bodyPr>
          <a:lstStyle/>
          <a:p>
            <a:r>
              <a:rPr lang="en-IN" sz="1900" dirty="0"/>
              <a:t>Customers who want food items from </a:t>
            </a:r>
            <a:r>
              <a:rPr lang="en-IN" sz="1900" b="1" dirty="0"/>
              <a:t>multiple restaurants</a:t>
            </a:r>
            <a:r>
              <a:rPr lang="en-IN" sz="1900" dirty="0"/>
              <a:t> cannot conveniently combine them into a single order. They are required to place separate orders, resulting in </a:t>
            </a:r>
            <a:r>
              <a:rPr lang="en-IN" sz="2000" b="1" dirty="0"/>
              <a:t>multiple checkouts, multiple order statuses, and fragmented tracking</a:t>
            </a:r>
            <a:r>
              <a:rPr lang="en-IN" sz="1900" dirty="0"/>
              <a:t>.</a:t>
            </a:r>
          </a:p>
          <a:p>
            <a:r>
              <a:rPr lang="en-IN" sz="2000" dirty="0"/>
              <a:t>This makes the overall ordering process </a:t>
            </a:r>
            <a:r>
              <a:rPr lang="en-IN" sz="2000" b="1" dirty="0"/>
              <a:t>time-consuming and difficult to manage </a:t>
            </a:r>
            <a:r>
              <a:rPr lang="en-IN" sz="1900" dirty="0"/>
              <a:t>when customers want items from different restaurants.</a:t>
            </a:r>
          </a:p>
          <a:p>
            <a:r>
              <a:rPr lang="en-IN" sz="2000" b="1" dirty="0"/>
              <a:t>Lack of Meal-Time Recommendations</a:t>
            </a:r>
            <a:r>
              <a:rPr lang="en-IN" sz="2000" dirty="0"/>
              <a:t> — Customers may not always receive suitable food suggestions based on breakfast, lunch, snacks, or dinner.</a:t>
            </a:r>
          </a:p>
          <a:p>
            <a:r>
              <a:rPr lang="en-IN" sz="2000" b="1" dirty="0"/>
              <a:t>Limited Allergy Information</a:t>
            </a:r>
            <a:r>
              <a:rPr lang="en-IN" sz="2000" dirty="0"/>
              <a:t> — Customers may not always have clear information about </a:t>
            </a:r>
            <a:r>
              <a:rPr lang="en-IN" sz="2000" b="1" dirty="0"/>
              <a:t>ingredients and allergens</a:t>
            </a:r>
            <a:r>
              <a:rPr lang="en-IN" sz="2000" dirty="0"/>
              <a:t>, making it difficult to avoid unsuitable food items.</a:t>
            </a:r>
          </a:p>
          <a:p>
            <a:r>
              <a:rPr lang="en-IN" sz="1900" b="1" dirty="0"/>
              <a:t>Goal:</a:t>
            </a:r>
            <a:br>
              <a:rPr lang="en-IN" sz="1900" dirty="0"/>
            </a:br>
            <a:r>
              <a:rPr lang="en-IN" sz="2000" dirty="0"/>
              <a:t>To provide a </a:t>
            </a:r>
            <a:r>
              <a:rPr lang="en-IN" sz="2000" b="1" dirty="0"/>
              <a:t>unified multi-restaurant ordering experience</a:t>
            </a:r>
            <a:r>
              <a:rPr lang="en-IN" sz="2000" dirty="0"/>
              <a:t> with one cart, one checkout, </a:t>
            </a:r>
            <a:r>
              <a:rPr lang="en-IN" sz="2000" b="1" dirty="0"/>
              <a:t>personalized meal-time recommendations, allergy-aware food information</a:t>
            </a:r>
            <a:r>
              <a:rPr lang="en-IN" sz="2000" dirty="0"/>
              <a:t>, and a single view for tracking the entire order.</a:t>
            </a:r>
            <a:endParaRPr lang="en-IN" sz="1900" dirty="0"/>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a:xfrm>
            <a:off x="838200" y="1253331"/>
            <a:ext cx="10515600" cy="4351338"/>
          </a:xfrm>
        </p:spPr>
        <p:txBody>
          <a:bodyPr>
            <a:normAutofit fontScale="85000" lnSpcReduction="10000"/>
          </a:bodyPr>
          <a:lstStyle/>
          <a:p>
            <a:r>
              <a:rPr lang="en-IN" sz="1800" dirty="0"/>
              <a:t>The proposed </a:t>
            </a:r>
            <a:r>
              <a:rPr lang="en-IN" sz="1800" b="1" dirty="0"/>
              <a:t>Online Food Delivery Platform</a:t>
            </a:r>
            <a:r>
              <a:rPr lang="en-IN" sz="1800" dirty="0"/>
              <a:t> introduces a multi-restaurant ordering model that allows customers to combine items from different restaurants into a single order.</a:t>
            </a:r>
          </a:p>
          <a:p>
            <a:pPr marL="0" indent="0">
              <a:buNone/>
            </a:pPr>
            <a:r>
              <a:rPr lang="en-IN" sz="1800" b="1" dirty="0"/>
              <a:t>Key Contributions:</a:t>
            </a:r>
            <a:endParaRPr lang="en-IN" sz="1800" dirty="0"/>
          </a:p>
          <a:p>
            <a:pPr lvl="0"/>
            <a:r>
              <a:rPr lang="en-IN" sz="1800" b="1" dirty="0"/>
              <a:t>One Unified Cart</a:t>
            </a:r>
            <a:r>
              <a:rPr lang="en-IN" sz="1800" dirty="0"/>
              <a:t> — Customers can add items from multiple restaurants to one cart. </a:t>
            </a:r>
          </a:p>
          <a:p>
            <a:pPr lvl="0"/>
            <a:r>
              <a:rPr lang="en-IN" sz="1800" b="1" dirty="0"/>
              <a:t>Single Checkout &amp; Payment</a:t>
            </a:r>
            <a:r>
              <a:rPr lang="en-IN" sz="1800" dirty="0"/>
              <a:t> — A single checkout process is used for the combined order. </a:t>
            </a:r>
          </a:p>
          <a:p>
            <a:pPr lvl="0"/>
            <a:r>
              <a:rPr lang="en-IN" sz="1800" b="1" dirty="0"/>
              <a:t>Master Order Management</a:t>
            </a:r>
            <a:r>
              <a:rPr lang="en-IN" sz="1800" dirty="0"/>
              <a:t> — The system creates one master order and automatically splits it into restaurant-specific orders. </a:t>
            </a:r>
          </a:p>
          <a:p>
            <a:pPr lvl="0"/>
            <a:r>
              <a:rPr lang="en-IN" sz="1800" b="1" dirty="0"/>
              <a:t>Independent Restaurant Processing</a:t>
            </a:r>
            <a:r>
              <a:rPr lang="en-IN" sz="1800" dirty="0"/>
              <a:t> — Each restaurant receives and processes only its respective portion of the order. </a:t>
            </a:r>
          </a:p>
          <a:p>
            <a:pPr lvl="0"/>
            <a:r>
              <a:rPr lang="en-IN" sz="1800" b="1" dirty="0"/>
              <a:t>Unified Order Tracking</a:t>
            </a:r>
            <a:r>
              <a:rPr lang="en-IN" sz="1800" dirty="0"/>
              <a:t> — Customers can view the status of their complete order from one place. </a:t>
            </a:r>
          </a:p>
          <a:p>
            <a:pPr lvl="0"/>
            <a:r>
              <a:rPr lang="en-IN" sz="1800" b="1" dirty="0"/>
              <a:t>Delivery Partner Assignment</a:t>
            </a:r>
            <a:r>
              <a:rPr lang="en-IN" sz="1800" dirty="0"/>
              <a:t> — Deliveries are assigned and managed through the platform. </a:t>
            </a:r>
          </a:p>
          <a:p>
            <a:pPr lvl="0"/>
            <a:r>
              <a:rPr lang="en-IN" sz="1800" b="1" dirty="0"/>
              <a:t>Real-Time Updates</a:t>
            </a:r>
            <a:r>
              <a:rPr lang="en-IN" sz="1800" dirty="0"/>
              <a:t> — Order and delivery status are updated in real time.</a:t>
            </a:r>
          </a:p>
          <a:p>
            <a:r>
              <a:rPr lang="en-IN" sz="1800" b="1" dirty="0"/>
              <a:t> Meal-Time Recommendations</a:t>
            </a:r>
            <a:r>
              <a:rPr lang="en-IN" sz="1800" dirty="0"/>
              <a:t> — Provides suitable food suggestions based on meal times such as </a:t>
            </a:r>
            <a:r>
              <a:rPr lang="en-IN" sz="1800" b="1" dirty="0"/>
              <a:t>breakfast, lunch, snacks, and dinner</a:t>
            </a:r>
            <a:r>
              <a:rPr lang="en-IN" sz="1800" dirty="0"/>
              <a:t>.</a:t>
            </a:r>
          </a:p>
          <a:p>
            <a:r>
              <a:rPr lang="en-IN" sz="1800" b="1" dirty="0"/>
              <a:t> Allergy-Aware Food Information</a:t>
            </a:r>
            <a:r>
              <a:rPr lang="en-IN" sz="1800" dirty="0"/>
              <a:t> — Displays </a:t>
            </a:r>
            <a:r>
              <a:rPr lang="en-IN" sz="1800" b="1" dirty="0"/>
              <a:t>ingredients and allergen information</a:t>
            </a:r>
            <a:r>
              <a:rPr lang="en-IN" sz="1800" dirty="0"/>
              <a:t> for food items so customers can identify and avoid unsuitable foods.</a:t>
            </a:r>
          </a:p>
          <a:p>
            <a:r>
              <a:rPr lang="en-IN" sz="1800" b="1" dirty="0"/>
              <a:t>Dietary Preference Filters </a:t>
            </a:r>
            <a:r>
              <a:rPr lang="en-IN" sz="1800" dirty="0"/>
              <a:t>— Allows customers to filter food by vegetarian, vegan, spicy, or non-spicy preferences.</a:t>
            </a:r>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a:bodyPr>
          <a:lstStyle/>
          <a:p>
            <a:pPr lvl="0"/>
            <a:r>
              <a:rPr lang="en-IN" sz="1800" dirty="0"/>
              <a:t>To develop a platform that allows customers to </a:t>
            </a:r>
            <a:r>
              <a:rPr lang="en-IN" sz="1800" b="1" dirty="0"/>
              <a:t>browse and order from multiple restaurants in a single session</a:t>
            </a:r>
            <a:r>
              <a:rPr lang="en-IN" sz="1800" dirty="0"/>
              <a:t>. </a:t>
            </a:r>
          </a:p>
          <a:p>
            <a:pPr lvl="0"/>
            <a:r>
              <a:rPr lang="en-IN" sz="1800" dirty="0"/>
              <a:t>To provide a </a:t>
            </a:r>
            <a:r>
              <a:rPr lang="en-IN" sz="1800" b="1" dirty="0"/>
              <a:t>unified cart and single checkout process</a:t>
            </a:r>
            <a:r>
              <a:rPr lang="en-IN" sz="1800" dirty="0"/>
              <a:t> for items selected from different restaurants. </a:t>
            </a:r>
          </a:p>
          <a:p>
            <a:pPr lvl="0"/>
            <a:r>
              <a:rPr lang="en-IN" sz="1800" dirty="0"/>
              <a:t>To automatically </a:t>
            </a:r>
            <a:r>
              <a:rPr lang="en-IN" sz="1800" b="1" dirty="0"/>
              <a:t>split a master order into restaurant-specific orders</a:t>
            </a:r>
            <a:r>
              <a:rPr lang="en-IN" sz="1800" dirty="0"/>
              <a:t> for independent processing and </a:t>
            </a:r>
            <a:r>
              <a:rPr lang="en-IN" sz="1800" dirty="0" err="1"/>
              <a:t>fulfillment</a:t>
            </a:r>
            <a:r>
              <a:rPr lang="en-IN" sz="1800" dirty="0"/>
              <a:t>. </a:t>
            </a:r>
          </a:p>
          <a:p>
            <a:pPr lvl="0"/>
            <a:r>
              <a:rPr lang="en-IN" sz="1800" dirty="0"/>
              <a:t>To provide restaurants with a dedicated dashboard to </a:t>
            </a:r>
            <a:r>
              <a:rPr lang="en-IN" sz="1800" b="1" dirty="0"/>
              <a:t>manage menus, receive orders, and update order status</a:t>
            </a:r>
            <a:r>
              <a:rPr lang="en-IN" sz="1800" dirty="0"/>
              <a:t>. </a:t>
            </a:r>
          </a:p>
          <a:p>
            <a:pPr lvl="0"/>
            <a:r>
              <a:rPr lang="en-IN" sz="1800" dirty="0"/>
              <a:t>To enable delivery partners to </a:t>
            </a:r>
            <a:r>
              <a:rPr lang="en-IN" sz="1800" b="1" dirty="0"/>
              <a:t>accept assigned deliveries and provide real-time delivery status updates</a:t>
            </a:r>
            <a:r>
              <a:rPr lang="en-IN" sz="1800" dirty="0"/>
              <a:t>. </a:t>
            </a:r>
          </a:p>
          <a:p>
            <a:pPr lvl="0"/>
            <a:r>
              <a:rPr lang="en-IN" sz="1800" dirty="0"/>
              <a:t>To provide customers with </a:t>
            </a:r>
            <a:r>
              <a:rPr lang="en-IN" sz="1800" b="1" dirty="0"/>
              <a:t>consolidated order tracking</a:t>
            </a:r>
            <a:r>
              <a:rPr lang="en-IN" sz="1800" dirty="0"/>
              <a:t> across all restaurant-specific orders. </a:t>
            </a:r>
          </a:p>
          <a:p>
            <a:pPr lvl="0"/>
            <a:r>
              <a:rPr lang="en-IN" sz="1800" dirty="0"/>
              <a:t>To provide administrators with a centralized system to </a:t>
            </a:r>
            <a:r>
              <a:rPr lang="en-IN" sz="1800" b="1" dirty="0"/>
              <a:t>manage users, restaurants, delivery partners, orders, commissions, and offers</a:t>
            </a:r>
            <a:r>
              <a:rPr lang="en-IN" sz="1800" dirty="0"/>
              <a:t>.</a:t>
            </a:r>
          </a:p>
          <a:p>
            <a:r>
              <a:rPr lang="en-IN" sz="1800" dirty="0"/>
              <a:t>To provide meal-time based food recommendations for breakfast, lunch, snacks, and dinner, along with clear ingredient and allergen information to help customers select suitable food items.</a:t>
            </a:r>
          </a:p>
          <a:p>
            <a:pPr lvl="0"/>
            <a:endParaRPr lang="en-IN" sz="1800"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a:xfrm>
            <a:off x="769374" y="185687"/>
            <a:ext cx="10515600" cy="373626"/>
          </a:xfrm>
        </p:spPr>
        <p:txBody>
          <a:bodyPr>
            <a:normAutofit fontScale="90000"/>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a:xfrm>
            <a:off x="769373" y="817123"/>
            <a:ext cx="10515599" cy="5359840"/>
          </a:xfrm>
        </p:spPr>
        <p:txBody>
          <a:bodyPr>
            <a:normAutofit fontScale="92500" lnSpcReduction="10000"/>
          </a:bodyPr>
          <a:lstStyle/>
          <a:p>
            <a:r>
              <a:rPr lang="en-IN" sz="1800" b="1" dirty="0"/>
              <a:t>1. Customer Module</a:t>
            </a:r>
          </a:p>
          <a:p>
            <a:pPr lvl="0"/>
            <a:r>
              <a:rPr lang="en-IN" sz="1800" dirty="0"/>
              <a:t>Browse and search restaurants </a:t>
            </a:r>
          </a:p>
          <a:p>
            <a:pPr lvl="0"/>
            <a:r>
              <a:rPr lang="en-IN" sz="1800" dirty="0"/>
              <a:t>Add items from multiple restaurants to cart </a:t>
            </a:r>
          </a:p>
          <a:p>
            <a:pPr lvl="0"/>
            <a:r>
              <a:rPr lang="en-IN" sz="1800" dirty="0"/>
              <a:t>Unified checkout and payment </a:t>
            </a:r>
          </a:p>
          <a:p>
            <a:pPr lvl="0"/>
            <a:r>
              <a:rPr lang="en-IN" sz="1800" dirty="0"/>
              <a:t>Track complete order status </a:t>
            </a:r>
          </a:p>
          <a:p>
            <a:pPr lvl="0"/>
            <a:r>
              <a:rPr lang="en-IN" sz="1800" dirty="0"/>
              <a:t>Ratings and reviews </a:t>
            </a:r>
          </a:p>
          <a:p>
            <a:pPr lvl="0"/>
            <a:r>
              <a:rPr lang="en-IN" sz="1800" dirty="0"/>
              <a:t>Meal-Time Recommendations </a:t>
            </a:r>
          </a:p>
          <a:p>
            <a:pPr lvl="0"/>
            <a:r>
              <a:rPr lang="en-IN" sz="1800" dirty="0"/>
              <a:t>Allergy &amp; Ingredient Information </a:t>
            </a:r>
          </a:p>
          <a:p>
            <a:pPr lvl="0"/>
            <a:r>
              <a:rPr lang="en-IN" sz="1800" dirty="0"/>
              <a:t>Dietary Preference Filters </a:t>
            </a:r>
          </a:p>
          <a:p>
            <a:r>
              <a:rPr lang="en-IN" sz="1800" b="1" dirty="0"/>
              <a:t>2. Restaurant Module</a:t>
            </a:r>
          </a:p>
          <a:p>
            <a:pPr lvl="0"/>
            <a:r>
              <a:rPr lang="en-IN" sz="1800" dirty="0"/>
              <a:t>Manage restaurant menu </a:t>
            </a:r>
          </a:p>
          <a:p>
            <a:pPr lvl="0"/>
            <a:r>
              <a:rPr lang="en-IN" sz="1800" dirty="0"/>
              <a:t>Manage Ingredients &amp; Allergen Information </a:t>
            </a:r>
          </a:p>
          <a:p>
            <a:pPr lvl="0"/>
            <a:r>
              <a:rPr lang="en-IN" sz="1800" dirty="0"/>
              <a:t>Receive restaurant-specific orders </a:t>
            </a:r>
          </a:p>
          <a:p>
            <a:pPr lvl="0"/>
            <a:r>
              <a:rPr lang="en-IN" sz="1800" dirty="0"/>
              <a:t>Accept and process orders </a:t>
            </a:r>
          </a:p>
          <a:p>
            <a:pPr lvl="0"/>
            <a:r>
              <a:rPr lang="en-IN" sz="1800" dirty="0"/>
              <a:t>Update order status </a:t>
            </a:r>
          </a:p>
          <a:p>
            <a:pPr lvl="0"/>
            <a:r>
              <a:rPr lang="en-IN" sz="1800" dirty="0"/>
              <a:t>Manage offers and discounts</a:t>
            </a:r>
          </a:p>
        </p:txBody>
      </p:sp>
      <p:sp>
        <p:nvSpPr>
          <p:cNvPr id="3" name="TextBox 2">
            <a:extLst>
              <a:ext uri="{FF2B5EF4-FFF2-40B4-BE49-F238E27FC236}">
                <a16:creationId xmlns:a16="http://schemas.microsoft.com/office/drawing/2014/main" id="{A82D0141-FB4B-971E-D150-F4412F59CB82}"/>
              </a:ext>
            </a:extLst>
          </p:cNvPr>
          <p:cNvSpPr txBox="1"/>
          <p:nvPr/>
        </p:nvSpPr>
        <p:spPr>
          <a:xfrm>
            <a:off x="6823586" y="1142177"/>
            <a:ext cx="4461388" cy="3693319"/>
          </a:xfrm>
          <a:prstGeom prst="rect">
            <a:avLst/>
          </a:prstGeom>
          <a:noFill/>
        </p:spPr>
        <p:txBody>
          <a:bodyPr wrap="square" rtlCol="0">
            <a:spAutoFit/>
          </a:bodyPr>
          <a:lstStyle/>
          <a:p>
            <a:pPr marL="285750" indent="-285750">
              <a:buFont typeface="Arial" panose="020B0604020202020204" pitchFamily="34" charset="0"/>
              <a:buChar char="•"/>
            </a:pPr>
            <a:r>
              <a:rPr lang="en-IN" b="1" dirty="0"/>
              <a:t>3. Delivery Partner Module</a:t>
            </a:r>
          </a:p>
          <a:p>
            <a:pPr marL="285750" lvl="0" indent="-285750">
              <a:buFont typeface="Arial" panose="020B0604020202020204" pitchFamily="34" charset="0"/>
              <a:buChar char="•"/>
            </a:pPr>
            <a:r>
              <a:rPr lang="en-IN" dirty="0"/>
              <a:t>View assigned deliveries </a:t>
            </a:r>
          </a:p>
          <a:p>
            <a:pPr marL="285750" lvl="0" indent="-285750">
              <a:buFont typeface="Arial" panose="020B0604020202020204" pitchFamily="34" charset="0"/>
              <a:buChar char="•"/>
            </a:pPr>
            <a:r>
              <a:rPr lang="en-IN" dirty="0"/>
              <a:t>Accept delivery requests </a:t>
            </a:r>
          </a:p>
          <a:p>
            <a:pPr marL="285750" lvl="0" indent="-285750">
              <a:buFont typeface="Arial" panose="020B0604020202020204" pitchFamily="34" charset="0"/>
              <a:buChar char="•"/>
            </a:pPr>
            <a:r>
              <a:rPr lang="en-IN" dirty="0"/>
              <a:t>Manage pickup and delivery </a:t>
            </a:r>
          </a:p>
          <a:p>
            <a:pPr marL="285750" lvl="0" indent="-285750">
              <a:buFont typeface="Arial" panose="020B0604020202020204" pitchFamily="34" charset="0"/>
              <a:buChar char="•"/>
            </a:pPr>
            <a:r>
              <a:rPr lang="en-IN" dirty="0"/>
              <a:t>Update delivery status </a:t>
            </a:r>
          </a:p>
          <a:p>
            <a:pPr marL="285750" lvl="0" indent="-285750">
              <a:buFont typeface="Arial" panose="020B0604020202020204" pitchFamily="34" charset="0"/>
              <a:buChar char="•"/>
            </a:pPr>
            <a:r>
              <a:rPr lang="en-IN" dirty="0"/>
              <a:t>Live location tracking </a:t>
            </a:r>
          </a:p>
          <a:p>
            <a:pPr marL="285750" indent="-285750">
              <a:buFont typeface="Arial" panose="020B0604020202020204" pitchFamily="34" charset="0"/>
              <a:buChar char="•"/>
            </a:pPr>
            <a:r>
              <a:rPr lang="en-IN" b="1" dirty="0"/>
              <a:t>4. Admin Module</a:t>
            </a:r>
          </a:p>
          <a:p>
            <a:pPr marL="285750" lvl="0" indent="-285750">
              <a:buFont typeface="Arial" panose="020B0604020202020204" pitchFamily="34" charset="0"/>
              <a:buChar char="•"/>
            </a:pPr>
            <a:r>
              <a:rPr lang="en-IN" dirty="0"/>
              <a:t>Manage customers, restaurants, and delivery partners </a:t>
            </a:r>
          </a:p>
          <a:p>
            <a:pPr marL="285750" lvl="0" indent="-285750">
              <a:buFont typeface="Arial" panose="020B0604020202020204" pitchFamily="34" charset="0"/>
              <a:buChar char="•"/>
            </a:pPr>
            <a:r>
              <a:rPr lang="en-IN" dirty="0"/>
              <a:t>Monitor orders </a:t>
            </a:r>
          </a:p>
          <a:p>
            <a:pPr marL="285750" lvl="0" indent="-285750">
              <a:buFont typeface="Arial" panose="020B0604020202020204" pitchFamily="34" charset="0"/>
              <a:buChar char="•"/>
            </a:pPr>
            <a:r>
              <a:rPr lang="en-IN" dirty="0"/>
              <a:t>Manage commissions </a:t>
            </a:r>
          </a:p>
          <a:p>
            <a:pPr marL="285750" lvl="0" indent="-285750">
              <a:buFont typeface="Arial" panose="020B0604020202020204" pitchFamily="34" charset="0"/>
              <a:buChar char="•"/>
            </a:pPr>
            <a:r>
              <a:rPr lang="en-IN" dirty="0"/>
              <a:t>Manage offers and discounts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a:lstStyle/>
          <a:p>
            <a:r>
              <a:rPr sz="1800" b="1" dirty="0"/>
              <a:t>Frontend</a:t>
            </a:r>
            <a:endParaRPr lang="en-US" dirty="0"/>
          </a:p>
          <a:p>
            <a:pPr lvl="1"/>
            <a:r>
              <a:rPr sz="1600" b="0" dirty="0"/>
              <a:t>React.js — UI for customer, restaurant, delivery, and admin dashboards</a:t>
            </a:r>
          </a:p>
          <a:p>
            <a:r>
              <a:rPr sz="1800" b="1" dirty="0"/>
              <a:t>Backend</a:t>
            </a:r>
          </a:p>
          <a:p>
            <a:pPr lvl="1"/>
            <a:r>
              <a:rPr sz="1600" b="0" dirty="0"/>
              <a:t>Node.js — JavaScript runtime powering the server</a:t>
            </a:r>
          </a:p>
          <a:p>
            <a:pPr lvl="1"/>
            <a:r>
              <a:rPr sz="1600" b="0" dirty="0"/>
              <a:t>Express.js — REST API framework for all backend routes</a:t>
            </a:r>
          </a:p>
          <a:p>
            <a:r>
              <a:rPr sz="1800" b="1" dirty="0"/>
              <a:t>Database</a:t>
            </a:r>
          </a:p>
          <a:p>
            <a:pPr lvl="1"/>
            <a:r>
              <a:rPr sz="1600" b="0" dirty="0"/>
              <a:t>MySQL — relational database for orders, users, and restaurants</a:t>
            </a:r>
          </a:p>
          <a:p>
            <a:r>
              <a:rPr sz="1800" b="1" dirty="0"/>
              <a:t>Real-Time &amp; Integrations</a:t>
            </a:r>
          </a:p>
          <a:p>
            <a:pPr lvl="1"/>
            <a:r>
              <a:rPr sz="1600" b="0" dirty="0"/>
              <a:t>Socket.io — real-time order status and live updates</a:t>
            </a:r>
          </a:p>
          <a:p>
            <a:pPr lvl="1"/>
            <a:r>
              <a:rPr sz="1600" b="0" dirty="0"/>
              <a:t>Google Maps API — location services and delivery tracking</a:t>
            </a:r>
          </a:p>
          <a:p>
            <a:pPr lvl="1"/>
            <a:r>
              <a:rPr sz="1600" b="0" dirty="0"/>
              <a:t>x402 </a:t>
            </a:r>
            <a:r>
              <a:rPr sz="1600" b="0" dirty="0" err="1"/>
              <a:t>Aragen</a:t>
            </a:r>
            <a:r>
              <a:rPr sz="1600" b="0" dirty="0"/>
              <a:t> — secure online payment gateway</a:t>
            </a:r>
          </a:p>
          <a:p>
            <a:r>
              <a:rPr sz="1800" b="0" dirty="0"/>
              <a:t>System Architecture: Users (Customer / Restaurant / Delivery / Admin) → React.js → Node.js + Express.js → MySQL ⇄ Socket.io</a:t>
            </a:r>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14" name="Content Placeholder">
            <a:extLst>
              <a:ext uri="{FF2B5EF4-FFF2-40B4-BE49-F238E27FC236}">
                <a16:creationId xmlns:a16="http://schemas.microsoft.com/office/drawing/2014/main" id="{A43FE7F8-1A57-17F5-243A-454005CCDF16}"/>
              </a:ext>
            </a:extLst>
          </p:cNvPr>
          <p:cNvSpPr>
            <a:spLocks noGrp="1"/>
          </p:cNvSpPr>
          <p:nvPr>
            <p:ph idx="1"/>
          </p:nvPr>
        </p:nvSpPr>
        <p:spPr/>
        <p:txBody>
          <a:bodyPr/>
          <a:lstStyle/>
          <a:p>
            <a:r>
              <a:rPr sz="1800" b="0" dirty="0"/>
              <a:t>The platform replaces multiple, disconnected single-restaurant orders with one unified cart, one checkout, and one order experience spanning several restaurants.</a:t>
            </a:r>
          </a:p>
          <a:p>
            <a:r>
              <a:rPr sz="1800" b="0" dirty="0"/>
              <a:t>A master order is transparently split into restaurant-specific orders, so each kitchen fulfills only its own portion while the customer tracks everything in one place.</a:t>
            </a:r>
          </a:p>
          <a:p>
            <a:r>
              <a:rPr sz="1800" b="0" dirty="0"/>
              <a:t>Built on React.js, Node.js, Express.js, MySQL, and Socket.io, the system delivers real-time order status, live delivery tracking, and role-based dashboards for customers, restaurants, delivery partners, and admin.</a:t>
            </a:r>
          </a:p>
          <a:p>
            <a:r>
              <a:rPr sz="1800" b="1" dirty="0"/>
              <a:t>Future Scope</a:t>
            </a:r>
          </a:p>
          <a:p>
            <a:pPr lvl="1"/>
            <a:r>
              <a:rPr sz="1600" b="0" dirty="0"/>
              <a:t>Scale the platform to support more restaurants, delivery partners, and cities</a:t>
            </a:r>
          </a:p>
          <a:p>
            <a:pPr lvl="1"/>
            <a:r>
              <a:rPr sz="1600" b="0" dirty="0"/>
              <a:t>Introduce AI-based restaurant and dish recommendations</a:t>
            </a:r>
          </a:p>
          <a:p>
            <a:pPr lvl="1"/>
            <a:r>
              <a:rPr sz="1600" b="0" dirty="0"/>
              <a:t>Add loyalty/rewards programs and additional payment options</a:t>
            </a:r>
          </a:p>
          <a:p>
            <a:pPr lvl="1"/>
            <a:r>
              <a:rPr sz="1600" b="0" dirty="0"/>
              <a:t>Extend analytics for admin around order patterns and delivery performance</a:t>
            </a: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a:p>
            <a:pPr marL="0" indent="0" algn="ctr">
              <a:buNone/>
            </a:pPr>
            <a:r>
              <a:rPr sz="2000">
                <a:solidFill>
                  <a:srgbClr val="404040"/>
                </a:solidFill>
              </a:rPr>
              <a:t>Questions &amp; Discussion</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8309</TotalTime>
  <Words>1515</Words>
  <Application>Microsoft Office PowerPoint</Application>
  <PresentationFormat>Widescreen</PresentationFormat>
  <Paragraphs>157</Paragraphs>
  <Slides>12</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Calibri</vt:lpstr>
      <vt:lpstr>Calibri Light</vt:lpstr>
      <vt:lpstr>Office Theme</vt:lpstr>
      <vt:lpstr>Custom Design</vt:lpstr>
      <vt:lpstr> 1st  REVIEW  Online Food Delivery Platform: Multi-Restaurant Ordering &amp; Unified Checkout </vt:lpstr>
      <vt:lpstr>GROUP NUMBER: 13</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Sahasra Gandla</cp:lastModifiedBy>
  <cp:revision>96</cp:revision>
  <dcterms:created xsi:type="dcterms:W3CDTF">2022-05-20T10:20:31Z</dcterms:created>
  <dcterms:modified xsi:type="dcterms:W3CDTF">2026-09-01T06:55:04Z</dcterms:modified>
</cp:coreProperties>
</file>